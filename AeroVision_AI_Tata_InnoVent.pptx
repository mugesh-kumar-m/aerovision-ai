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F3FE0-034F-428B-9ADC-E0AA669D689B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A0D7B-709F-4161-925B-28D5FFEA50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51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A0D7B-709F-4161-925B-28D5FFEA50A0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56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AEROVISION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7FDBFF"/>
                </a:solidFill>
                <a:latin typeface="Calibri"/>
              </a:defRPr>
            </a:pPr>
            <a:r>
              <a:t>AI-Powered Aircraft Surface Defect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3657600" cy="381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108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n-IN" dirty="0"/>
              <a:t>Team Nexus Innovation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TEAM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930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Mugesh Kumar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77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877056"/>
            <a:ext cx="73152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defRPr sz="1400" b="0">
                <a:solidFill>
                  <a:srgbClr val="F0F4F8"/>
                </a:solidFill>
                <a:latin typeface="Calibri"/>
              </a:defRPr>
            </a:pPr>
            <a:r>
              <a:rPr lang="en-IN" dirty="0"/>
              <a:t>Karthikeyan M  | Sakthi S  | </a:t>
            </a:r>
            <a:r>
              <a:rPr lang="en-IN" dirty="0" err="1"/>
              <a:t>VasanthaRaj</a:t>
            </a:r>
            <a:r>
              <a:rPr lang="en-IN" dirty="0"/>
              <a:t>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611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rPr dirty="0"/>
              <a:t>COLLEGE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61104"/>
            <a:ext cx="73152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80"/>
              </a:lnSpc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n-IN" sz="1400" dirty="0"/>
              <a:t>Sri Krishna College of Engineering and Technology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371600" y="464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rPr dirty="0"/>
              <a:t>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645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Aerospace &amp; Aviation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029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AI-at-the-Edge / Real-Time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097280"/>
            <a:ext cx="3200400" cy="13716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234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4D9"/>
                </a:solidFill>
                <a:latin typeface="Calibri"/>
              </a:defRPr>
            </a:pPr>
            <a:r>
              <a:t>TATA TECHNOLOGIES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InnoVent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7788"/>
                </a:solidFill>
                <a:latin typeface="Calibri"/>
              </a:defRPr>
            </a:pPr>
            <a: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Meet the Team Behind AeroVision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560320" cy="38404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1828800"/>
            <a:ext cx="914400" cy="91440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Mugesh Kumar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FDBFF"/>
                </a:solidFill>
                <a:latin typeface="Calibri"/>
              </a:defRPr>
            </a:pPr>
            <a:r>
              <a:t>Team Lead &amp; AI/ML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Leads project architecture, designs and trains YOLOv8 models, manages ML pipeline and edge deployment strategy.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45920"/>
            <a:ext cx="2560320" cy="38404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14800" y="1828800"/>
            <a:ext cx="914400" cy="91440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19659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8036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Karthikeyan </a:t>
            </a:r>
            <a:r>
              <a:rPr lang="en-US" dirty="0"/>
              <a:t>M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3383280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FDBFF"/>
                </a:solidFill>
                <a:latin typeface="Calibri"/>
              </a:defRPr>
            </a:pPr>
            <a:r>
              <a:rPr dirty="0"/>
              <a:t>Edge Computing </a:t>
            </a:r>
            <a:r>
              <a:rPr lang="en-IN" dirty="0"/>
              <a:t>&amp; IoT Specialist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347472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rPr dirty="0"/>
              <a:t>Responsible for edge hardware setup, NVIDIA Jetson/Raspberry Pi deployment, and IoT sensor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645920"/>
            <a:ext cx="2560320" cy="38404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949440" y="1828800"/>
            <a:ext cx="914400" cy="91440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19659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lang="en-US" dirty="0" err="1"/>
              <a:t>VasanthaRaj</a:t>
            </a:r>
            <a:r>
              <a:rPr lang="en-US" dirty="0"/>
              <a:t> M</a:t>
            </a:r>
            <a:endParaRPr lang="en-IN" dirty="0"/>
          </a:p>
        </p:txBody>
      </p:sp>
      <p:sp>
        <p:nvSpPr>
          <p:cNvPr id="23" name="TextBox 22"/>
          <p:cNvSpPr txBox="1"/>
          <p:nvPr/>
        </p:nvSpPr>
        <p:spPr>
          <a:xfrm>
            <a:off x="6217920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FDBFF"/>
                </a:solidFill>
                <a:latin typeface="Calibri"/>
              </a:defRPr>
            </a:pPr>
            <a:r>
              <a:rPr lang="en-IN" dirty="0"/>
              <a:t>Computer Vision Engineer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30936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Develops computer vision algorithms, handles image preprocessing, and implements OpenCV pipelines.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645920"/>
            <a:ext cx="2560320" cy="38404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784080" y="1828800"/>
            <a:ext cx="914400" cy="91440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0" y="19659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880360"/>
            <a:ext cx="23774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Sakthi S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052560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7FDBFF"/>
                </a:solidFill>
                <a:latin typeface="Calibri"/>
              </a:defRPr>
            </a:pPr>
            <a:r>
              <a:t>Full-Stack &amp; Data Engineer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49039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Builds Flask web dashboard, manages database, develops REST APIs, and handles data pipelines.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AeroVision AI is an AI-powered edge computing system for real-time aircraft surface defect detection, using a custom YOLOv8 model with ResCBAM attention and GhostConv for lightweight, high-accuracy inspection.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Why Aircraft Surface Inspection Needs a 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0604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Slow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4+ hours per aircraft using manual visual inspection methods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0604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Low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060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Only 85% detection rate due to human fatigue and subjective judgment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0604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High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6060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$200K+ annual facility cost with $100-300 per single inspection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54480"/>
            <a:ext cx="260604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6916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2402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Low Throughput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0604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Only 6 aircraft inspected per day, creating bottlenecks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1F3F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●  Manual inspection is inconsistent across inspectors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●  Human fatigue leads to missed critical defects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●  No real-time feedback during inspection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●  Existing AI solutions cost $200K-$250K/year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●  Proprietary vendor lock-in with limited flexibility</a:t>
            </a:r>
          </a:p>
          <a:p>
            <a:pPr algn="l">
              <a:lnSpc>
                <a:spcPts val="2080"/>
              </a:lnSpc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●  Slow inference speed (500ms-1s) not suitable for real-time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SIZE &amp; FUTURE POTENTIAL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A Rapidly Growing Industry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06040" cy="164592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74D9"/>
                </a:solidFill>
                <a:latin typeface="Calibri"/>
              </a:defRPr>
            </a:pPr>
            <a:r>
              <a:t>$15B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Aircraft Maintenance</a:t>
            </a:r>
            <a:br/>
            <a:r>
              <a:t>Inspection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06040" cy="164592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9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9EEB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CAGR Growth</a:t>
            </a:r>
            <a:br/>
            <a:r>
              <a:t>to 2030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06040" cy="164592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39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39CCCC"/>
                </a:solidFill>
                <a:latin typeface="Calibri"/>
              </a:defRPr>
            </a:pPr>
            <a:r>
              <a:t>$26B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Projected Market</a:t>
            </a:r>
            <a:br/>
            <a:r>
              <a:t>by 2030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554480"/>
            <a:ext cx="2606040" cy="164592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6916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2ECC71"/>
                </a:solidFill>
                <a:latin typeface="Calibri"/>
              </a:defRPr>
            </a:pPr>
            <a:r>
              <a:t>$500M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Addressable Market</a:t>
            </a:r>
            <a:br/>
            <a:r>
              <a:t>(First 5 Years)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5486400" cy="29260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MARKET SEGMENTS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Global Aerospace NDT Market: $4.2B (2024) → $7.8B (2030)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AI-based Quality Inspection: $1.2B → $4.5B by 2028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Global Aerospace MRO Market: $90B+ annually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Defense &amp; Military Aviation Inspection: High growth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Emerging Markets (India, Asia-Pacific): Fastest growth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474720"/>
            <a:ext cx="5394960" cy="29260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BUSINESS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TAM (Total Addressable Market): $4.5B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SAM (Serviceable Available Market): $1.2B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SOM (Serviceable Obtainable Market): $50M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Break-even Period: 6-12 months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300" b="0">
                <a:solidFill>
                  <a:srgbClr val="F0F4F8"/>
                </a:solidFill>
                <a:latin typeface="Calibri"/>
              </a:defRPr>
            </a:pPr>
            <a:r>
              <a:t>●  5-Year ROI for 500-Aircraft Fleet: $486K (548%)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Defining Clear Goals for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13716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MAIN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Develop an AI-powered edge computing system for real-time aircraft surface defect detection that achieves superior accuracy, speed, and cost-efficiency compared to manual inspection methods.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2915"/>
            <a:ext cx="352044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001F3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1F3F"/>
                </a:solidFill>
                <a:latin typeface="Calibri"/>
              </a:defRPr>
            </a:pPr>
            <a:r>
              <a:t>DETECTION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Achieve ≥94% mAP@50 defect</a:t>
            </a:r>
            <a:br/>
            <a:r>
              <a:t>detection accuracy across all</a:t>
            </a:r>
            <a:br/>
            <a:r>
              <a:t>6 defect categories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092248"/>
            <a:ext cx="352044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60" y="32918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001F3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8404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1F3F"/>
                </a:solidFill>
                <a:latin typeface="Calibri"/>
              </a:defRPr>
            </a:pPr>
            <a:r>
              <a:t>REAL-TIME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2519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Process images in &lt;100ms</a:t>
            </a:r>
            <a:br/>
            <a:r>
              <a:t>per frame enabling 30 FPS</a:t>
            </a:r>
            <a:br/>
            <a:r>
              <a:t>real-time inspection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102080"/>
            <a:ext cx="3520440" cy="22860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0" y="32918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001F3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404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001F3F"/>
                </a:solidFill>
                <a:latin typeface="Calibri"/>
              </a:defRPr>
            </a:pPr>
            <a:r>
              <a:t>COST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519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Reduce inspection costs by</a:t>
            </a:r>
            <a:br/>
            <a:r>
              <a:t>60% and inspection time by</a:t>
            </a:r>
            <a:br/>
            <a:r>
              <a:t>70% vs manual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45493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1F3F"/>
                </a:solidFill>
                <a:latin typeface="Calibri"/>
              </a:defRPr>
            </a:pPr>
            <a:r>
              <a:rPr dirty="0"/>
              <a:t>KEY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1582" y="5671897"/>
            <a:ext cx="9159732" cy="1056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●  Zero missed critical defects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●  Edge-deployable lightweight model (&lt;25MB)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●  Web-based monitoring dashboard</a:t>
            </a:r>
          </a:p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rPr dirty="0"/>
              <a:t>●  Scalable multi-camera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AeroVision AI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20440" cy="3200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45920" y="1737360"/>
            <a:ext cx="1097280" cy="109728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1874519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FDBFF"/>
                </a:solidFill>
                <a:latin typeface="Calibri"/>
              </a:defRPr>
            </a:pPr>
            <a:r>
              <a:t>IMAGE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High-resolution surface images</a:t>
            </a:r>
            <a:br/>
            <a:r>
              <a:t>captured via UAV, handheld</a:t>
            </a:r>
            <a:br/>
            <a:r>
              <a:t>camera, or automated system</a:t>
            </a:r>
            <a:br/>
            <a:r>
              <a:t>at 640×640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520440" cy="3200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40680" y="1737360"/>
            <a:ext cx="1097280" cy="109728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0680" y="1874519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971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FDBFF"/>
                </a:solidFill>
                <a:latin typeface="Calibri"/>
              </a:defRPr>
            </a:pPr>
            <a:r>
              <a:t>AI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832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Custom YOLOv8 neural network</a:t>
            </a:r>
            <a:br/>
            <a:r>
              <a:t>with ResCBAM attention</a:t>
            </a:r>
            <a:br/>
            <a:r>
              <a:t>processes image in 11-79ms</a:t>
            </a:r>
            <a:br/>
            <a:r>
              <a:t>on GPU-accelerated edge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520440" cy="3200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35440" y="1737360"/>
            <a:ext cx="1097280" cy="1097280"/>
          </a:xfrm>
          <a:prstGeom prst="ellipse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874519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971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FDBFF"/>
                </a:solidFill>
                <a:latin typeface="Calibri"/>
              </a:defRPr>
            </a:pPr>
            <a:r>
              <a:t>INSTANT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3832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Visual report with highlighted</a:t>
            </a:r>
            <a:br/>
            <a:r>
              <a:t>defects, confidence scores,</a:t>
            </a:r>
            <a:br/>
            <a:r>
              <a:t>automatic alerts, and</a:t>
            </a:r>
            <a:br/>
            <a:r>
              <a:t>detailed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468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74D9"/>
                </a:solidFill>
                <a:latin typeface="Calibri"/>
              </a:defRPr>
            </a:pPr>
            <a:r>
              <a:t>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468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74D9"/>
                </a:solidFill>
                <a:latin typeface="Calibri"/>
              </a:defRPr>
            </a:pPr>
            <a:r>
              <a:t>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29200"/>
            <a:ext cx="1124712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6 DEFECT TYPES DETECTED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🔴  Crack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39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🟣  Inclusion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🟠  Corrosion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🟢  Surface Wear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🟤  Delamination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🟡  Scratch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t>INNOVATION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What Makes AeroVision AI Unique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20440" cy="22860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FDBFF"/>
                </a:solidFill>
                <a:latin typeface="Calibri"/>
              </a:defRPr>
            </a:pPr>
            <a:r>
              <a:t>ResCBAM Attention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Residual connection with Convolutional Block Attention Module (CBAM) for superior feature extraction and reduced overfitting. Focuses on relevant defect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520440" cy="22860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6916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2402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FDBFF"/>
                </a:solidFill>
                <a:latin typeface="Calibri"/>
              </a:defRPr>
            </a:pPr>
            <a:r>
              <a:t>GhostConv Replacement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060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Lightweight ghost convolutions in backbone achieve 40% parameter reduction without sacrificing detection performance. Enables edge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520440" cy="22860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6916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4028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7FDBFF"/>
                </a:solidFill>
                <a:latin typeface="Calibri"/>
              </a:defRPr>
            </a:pPr>
            <a:r>
              <a:t>WIOU Loss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0604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Improved Weighted IoU loss function handles imbalanced data and prevents small target defects from dominating the training process.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5486400" cy="23774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1F3F"/>
                </a:solidFill>
                <a:latin typeface="Calibri"/>
              </a:defRPr>
            </a:pPr>
            <a:r>
              <a:t>COMPETITIVE 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4.05M parameters only — 42% lighter than YOLOv5s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79.2% mAP@50 — best among all compared models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Real-time edge inference without cloud dependency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Multi-defect classification in a single pass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Open architecture — no vendor lock-in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14800"/>
            <a:ext cx="5486400" cy="23774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1F3F"/>
                </a:solidFill>
                <a:latin typeface="Calibri"/>
              </a:defRPr>
            </a:pPr>
            <a:r>
              <a:t>AI-AT-THE-EDGE HIGHLIGHTS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177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Runs on NVIDIA Jetson Nano / Raspberry Pi 4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Model size: 25.4 MB (PT) / 12.7 MB (ONNX)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No internet or cloud required for inference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TensorRT &amp; ONNX optimized for edge devices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Factory floor ready — real-time 30 FPS 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End-to-End Pipeline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1371600" cy="914400"/>
          </a:xfrm>
          <a:prstGeom prst="roundRect">
            <a:avLst/>
          </a:prstGeom>
          <a:solidFill>
            <a:srgbClr val="0074D9"/>
          </a:solidFill>
          <a:ln w="19050">
            <a:solidFill>
              <a:srgbClr val="7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2011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Camera</a:t>
            </a:r>
            <a:br/>
            <a: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011680"/>
            <a:ext cx="1371600" cy="914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7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2011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Image</a:t>
            </a:r>
            <a:br/>
            <a:r>
              <a:t>Capture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011680"/>
            <a:ext cx="1371600" cy="914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7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011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Pre-</a:t>
            </a:r>
            <a:br/>
            <a:r>
              <a:t>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011680"/>
            <a:ext cx="1645920" cy="914400"/>
          </a:xfrm>
          <a:prstGeom prst="roundRect">
            <a:avLst/>
          </a:prstGeom>
          <a:solidFill>
            <a:srgbClr val="0074D9"/>
          </a:solidFill>
          <a:ln w="19050">
            <a:solidFill>
              <a:srgbClr val="7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20116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YOLOv8</a:t>
            </a:r>
            <a:br/>
            <a:r>
              <a:t>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011680"/>
            <a:ext cx="1371600" cy="914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7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2011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Post-</a:t>
            </a:r>
            <a:br/>
            <a:r>
              <a:t>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1645920" cy="914400"/>
          </a:xfrm>
          <a:prstGeom prst="roundRect">
            <a:avLst/>
          </a:prstGeom>
          <a:solidFill>
            <a:srgbClr val="0074D9"/>
          </a:solidFill>
          <a:ln w="19050">
            <a:solidFill>
              <a:srgbClr val="7FD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20116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Defect</a:t>
            </a:r>
            <a:br/>
            <a:r>
              <a:t>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7FD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7FD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7FD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7FD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7FD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383280"/>
            <a:ext cx="1645920" cy="5486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9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33832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Alert System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383280"/>
            <a:ext cx="1645920" cy="5486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9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33832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114800"/>
            <a:ext cx="1645920" cy="5486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9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4114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4114800"/>
            <a:ext cx="1645920" cy="5486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9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0" y="4114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Report Gen.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3383280"/>
            <a:ext cx="7132320" cy="29260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52044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MODEL ARCHITECTURE: YOLOv8_ResBlock_CBAM_GhostConv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3192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Backbone (GhostConv): Conv 3→16→32→64→128→256  |  2.1M params (51%)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Neck (Feature Pyramid): SPPF + Upsampling + ResBlock_CBAM  |  1.5M params (37%)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Detection Head: 6-class detector + BBox regression  |  0.46M params (11%)</a:t>
            </a:r>
          </a:p>
          <a:p>
            <a:pPr algn="l">
              <a:lnSpc>
                <a:spcPts val="203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Total: 313 Layers  |  4.05M Parameters  |  10.2 GFLOPs  |  25.4 MB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Development Process &amp;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86400" cy="4937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1F3F"/>
                </a:solidFill>
                <a:latin typeface="Calibri"/>
              </a:defRPr>
            </a:pPr>
            <a:r>
              <a:t>DEVELOPMENT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1. Data Preparation — NEU-DET dataset (1,800 images, 6 classes)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2. Model Customization — YOLOv8s with ResCBAM + GhostConv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3. Transfer Learning — COCO pre-trained weights fine-tuned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4. Training — 100 epochs, batch size 16, AdamW optimizer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5. Validation — mAP, precision, recall evaluation metrics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6. Model Export — ONNX (12.7 MB) for edge deployment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7. Web Integration — Flask dashboard with REST APIs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8. Edge Deployment — Jetson Nano / Raspberry Pi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22860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TRAINING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Epochs: 100  |  Batch Size: 16  |  Image Size: 640×640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Optimizer: AdamW (lr=0.001, momentum=0.937)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Warmup: 3 epochs  |  Early Stopping: 20 patience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GPU: NVIDIA RTX 3050 (4GB VRAM, CUDA 11.8)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486400" cy="246888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7FDBFF"/>
                </a:solidFill>
                <a:latin typeface="Calibri"/>
              </a:defRPr>
            </a:pPr>
            <a:r>
              <a:t>AI/ML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Object Detection: YOLOv8 (You Only Look Once v8)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Attention: CBAM (Channel + Spatial Attention)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Augmentation: Mosaic, MixUp, HSV, Flip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Loss: WIOU + Classification + Objectness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Edge Optimization: Quantization, ONNX, TensorRT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TECHNOLOGIES &amp;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Our 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Python 3.13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HTML5 / CSS3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645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011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AI FRAMEWORKS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Ultralytics YOLOv8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PyTorch 2.7.1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ONNX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645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OpenCV 4.8.0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PIL / Pillow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NumPy / SciPy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5448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6459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0116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WEB &amp;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Flask 2.3.0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REST APIs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Gunicorn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148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80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EDGE 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NVIDIA Jetson Nano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Raspberry Pi 4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NVIDIA RTX 3050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402336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37560" y="41148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480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CLOUD &amp; 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79" y="48006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AWS IoT Core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Docker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TensorRT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02336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41148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480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8006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SQLite (Edge)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PostgreSQL (Cloud)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YAML Config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023360"/>
            <a:ext cx="260604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41148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🛠️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4805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DEV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80060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VS Code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Git / GitHub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Jupyter Notebook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t>CURRENT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Development Milestones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1F3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210312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Dataset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NEU-DET dataset</a:t>
            </a:r>
            <a:br/>
            <a:r>
              <a:t>prepared with 1,800</a:t>
            </a:r>
            <a:br/>
            <a:r>
              <a:t>images across 6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1645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1F3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2148840"/>
            <a:ext cx="210312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79" y="2286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Model 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6517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YOLOv8 custom model</a:t>
            </a:r>
            <a:br/>
            <a:r>
              <a:t>trained for 100 epochs</a:t>
            </a:r>
            <a:br/>
            <a:r>
              <a:t>with 79.2% mAP@50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645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1F3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59" y="2148840"/>
            <a:ext cx="210312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199" y="2286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Web App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26517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Flask dashboard with</a:t>
            </a:r>
            <a:br/>
            <a:r>
              <a:t>upload, detection,</a:t>
            </a:r>
            <a:br/>
            <a:r>
              <a:t>and 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1645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1F3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79" y="2148840"/>
            <a:ext cx="210312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60919" y="2286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Model Exported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26517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ONNX export (12.7MB)</a:t>
            </a:r>
            <a:br/>
            <a:r>
              <a:t>ready for edge</a:t>
            </a:r>
            <a:br/>
            <a: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6459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01F3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2148840"/>
            <a:ext cx="2103120" cy="210312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22860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Edge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65176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Hardware integration</a:t>
            </a:r>
            <a:br/>
            <a:r>
              <a:t>with Jetson Nano</a:t>
            </a:r>
            <a:br/>
            <a:r>
              <a:t>in 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11247120" cy="19202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1F3F"/>
                </a:solidFill>
                <a:latin typeface="Calibri"/>
              </a:defRPr>
            </a:pPr>
            <a:r>
              <a:t>PROTOTYPE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Software prototype fully functional — Flask web app with real-time defect detection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Custom YOLOv8 model achieving 79.2% mAP@50 — best among all compared models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REST API endpoints operational: /upload, /api/model-info, /api/stats, /health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Hardware integration with NVIDIA Jetson Nano — in progress (ONNX export ready)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Obstacles Encountered &amp; Solutions Applied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361188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645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🗃️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FDBFF"/>
                </a:solidFill>
                <a:latin typeface="Calibri"/>
              </a:defRPr>
            </a:pPr>
            <a:r>
              <a:t>LIMITED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5740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Challenge: Only 1,800 images available for training across 6 defect classes.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4320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Solution: Aggressive data augmentation — mosaic, mixup, HSV, flip,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554480"/>
            <a:ext cx="361188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1645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45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FDBFF"/>
                </a:solidFill>
                <a:latin typeface="Calibri"/>
              </a:defRPr>
            </a:pPr>
            <a:r>
              <a:t>SMALL DEFECT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5740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Challenge: Original 200×200 images had very small defect features to detect.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4320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Solution: Upscaled to 640×640 pixels and used CBAM attention mechanism.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1188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645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FDBFF"/>
                </a:solidFill>
                <a:latin typeface="Calibri"/>
              </a:defRPr>
            </a:pPr>
            <a:r>
              <a:t>EDGE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05740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Challenge: Full YOLOv8 too heavy for resource-constrained edge devices.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74320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Solution: GhostConv reduced parameters by 40%; ONNX export at 12.7MB.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023360"/>
            <a:ext cx="361188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FDBFF"/>
                </a:solidFill>
                <a:latin typeface="Calibri"/>
              </a:defRPr>
            </a:pPr>
            <a:r>
              <a:t>CLASS IMBALANCE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5262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Challenge: Some defect types harder to detect, causing training imbalance.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2120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Solution: WIOU loss function with adjusted weights per class.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4023360"/>
            <a:ext cx="361188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6052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14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FDBFF"/>
                </a:solidFill>
                <a:latin typeface="Calibri"/>
              </a:defRPr>
            </a:pPr>
            <a:r>
              <a:t>REAL-TIME 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5262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Challenge: Need &lt;100ms inference while maintaining detection accuracy.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2120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Solution: YOLOv8s (small variant) + TensorRT optimization achieves 35ms avg.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023360"/>
            <a:ext cx="3611880" cy="219456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11480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7FDBFF"/>
                </a:solidFill>
                <a:latin typeface="Calibri"/>
              </a:defRPr>
            </a:pPr>
            <a:r>
              <a:t>HARDWARE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5262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Challenge: Integrating AI model with industrial camera systems and IoT.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52120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Solution: Modular Flask API architecture with configurable input sources.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t>RESULTS &amp; 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Performance Metrics &amp;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6858000" cy="32004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MODEL COMPARISON ON NEU-DET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FLOPs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mAP50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0074D9"/>
                </a:solidFill>
                <a:latin typeface="Calibri"/>
              </a:defRPr>
            </a:pPr>
            <a:r>
              <a:t>mAP50-95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YOLOv5s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7.04M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15.9G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70.87%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377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35.02%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YOLOv5m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743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20.89M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39" y="2743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183.5G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743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71.74%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2743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36.67%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08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YOLOv7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108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37.22M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3108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196.2G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108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71.92%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3108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37.2%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YOLOv8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3.01M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8.1G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77.7%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59" y="34747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46.2%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Ours 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4.05M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39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10.2G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1999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79.2%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59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7FDBFF"/>
                </a:solidFill>
                <a:latin typeface="Calibri"/>
              </a:defRPr>
            </a:pPr>
            <a:r>
              <a:t>47.0%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89520" y="1554480"/>
            <a:ext cx="4114800" cy="32004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PERFORMANCE vs MANUAL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Cost/Inspection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$100-300 → $2-6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98% 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Time/Aircraft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4 hours → 15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2560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94% 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85% → 99%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+14%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Throughput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6/day → 96/day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3474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1500% 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931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F0F4F8"/>
                </a:solidFill>
                <a:latin typeface="Calibri"/>
              </a:defRPr>
            </a:pPr>
            <a:r>
              <a:t>$200K → $50K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3931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75% 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029200"/>
            <a:ext cx="1124712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1F3F"/>
                </a:solidFill>
                <a:latin typeface="Calibri"/>
              </a:defRPr>
            </a:pPr>
            <a:r>
              <a:t>ABLATION STUDY RESULTS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YOLOv8 (base): 77.7%  →  +GhostConv: 78.7%  →  +ResCBAM: 78.2%  →  Ours (Combined): 79.2% mAP@50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Precision improvement: +5.6%    |    F1-Score improvement: +3.1%    |    Inference Speed: 35ms average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Live System Prototype &amp; Screenshots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3200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7FDBFF"/>
                </a:solidFill>
                <a:latin typeface="Calibri"/>
              </a:defRPr>
            </a:pPr>
            <a:r>
              <a:t>WEB DASHBOARD — UPLOAD INTERFACE</a:t>
            </a:r>
          </a:p>
        </p:txBody>
      </p:sp>
      <p:pic>
        <p:nvPicPr>
          <p:cNvPr id="9" name="Picture 8" descr="val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754880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554480"/>
            <a:ext cx="5669280" cy="32004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7FDBFF"/>
                </a:solidFill>
                <a:latin typeface="Calibri"/>
              </a:defRPr>
            </a:pPr>
            <a:r>
              <a:t>DETECTION RESULTS — DEFECTS HIGHLIGHTED</a:t>
            </a:r>
          </a:p>
        </p:txBody>
      </p:sp>
      <p:pic>
        <p:nvPicPr>
          <p:cNvPr id="12" name="Picture 11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11680"/>
            <a:ext cx="5120640" cy="2560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5029200"/>
            <a:ext cx="548640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7FDBFF"/>
                </a:solidFill>
                <a:latin typeface="Calibri"/>
              </a:defRPr>
            </a:pPr>
            <a:r>
              <a:t>DEMO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Drag-and-drop image upload (JPG, PNG, BMP)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Real-time defect detection with bounding boxes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Color-coded classification with confidence scores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029200"/>
            <a:ext cx="548640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7FDBFF"/>
                </a:solidFill>
                <a:latin typeface="Calibri"/>
              </a:defRPr>
            </a:pPr>
            <a:r>
              <a:t>PROJECT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440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GitHub: github.com/MUGESH-KUMAR-M/AeroVision-AI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API Endpoints: /upload, /api/model-info, /health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●  Local Demo: localhost:5000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Roadmap for Growth &amp;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3611880" cy="36576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6916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ADDITIONAL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Thermal/infrared imaging for subsurface defects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AR overlay for technician guidance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Multi-camera fusion for 360° inspection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Predictive maintenance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54480"/>
            <a:ext cx="3611880" cy="36576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16916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945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SCALABILITY PLANS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5176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Multi-production line deployment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Cloud SaaS platform launch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Federated learning across facilities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Multi-aircraft type support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611880" cy="365760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69164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COMMERCIAL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Industry certification (DO-254)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Enterprise licensing model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Partnership with MRO facilities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Global deployment infrastructure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47120" cy="10058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001F3F"/>
                </a:solidFill>
                <a:latin typeface="Calibri"/>
              </a:defRPr>
            </a:pPr>
            <a:r>
              <a:t>🔮  Future Vision:  Autonomous inspection drones with onboard AI  •  Mobile apps (Flutter/React Native)  •  IoT sensor fusion  •  Real-time video stream analysis  •  Enterprise suite with analytics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PROTOTYPE DEVELOPMENT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3-Month Development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3611880" cy="594360"/>
          </a:xfrm>
          <a:prstGeom prst="round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1: Foundation &amp;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194560"/>
            <a:ext cx="3611880" cy="29260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Hardware procurement &amp; setup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Industrial camera integration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NEU-DET dataset preparation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Data augmentation pipeline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Development environment config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554480"/>
            <a:ext cx="3611880" cy="594360"/>
          </a:xfrm>
          <a:prstGeom prst="roundRect">
            <a:avLst/>
          </a:prstGeom>
          <a:solidFill>
            <a:srgbClr val="009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160020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2: Model &amp;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194560"/>
            <a:ext cx="3611880" cy="29260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9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37744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YOLOv8 model customization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ResCBAM + GhostConv integration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100-epoch training cycle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Validation &amp; hyperparameter tuning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Flask web app development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611880" cy="594360"/>
          </a:xfrm>
          <a:prstGeom prst="roundRect">
            <a:avLst/>
          </a:prstGeom>
          <a:solidFill>
            <a:srgbClr val="39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160020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3: Prototype &amp;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94560"/>
            <a:ext cx="3611880" cy="29260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39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377440"/>
            <a:ext cx="3246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Physical prototype assembly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Edge device deployment (Jetson)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End-to-end system testing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Performance benchmarking</a:t>
            </a:r>
          </a:p>
          <a:p>
            <a:pPr algn="l">
              <a:lnSpc>
                <a:spcPts val="192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Documentation &amp; demo prep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1247120" cy="10058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CURRENT STATUS: Month 2 Complete — Model trained (79.2% mAP@50), Web app functional, ONNX export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Next: Physical prototype assembly &amp; edge device deployment with NVIDIA Jetson Nano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99888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57604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01F3F"/>
                </a:solidFill>
                <a:latin typeface="Calibri"/>
              </a:defRPr>
            </a:pPr>
            <a:r>
              <a:rPr dirty="0"/>
              <a:t>IMPACT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757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0074D9"/>
                </a:solidFill>
                <a:latin typeface="Calibri"/>
              </a:defRPr>
            </a:pPr>
            <a:r>
              <a:t>Creating Meaningful Change Across Industries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7128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18512"/>
            <a:ext cx="5577840" cy="219456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886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886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4D9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5436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Enhanced aviation safety for passengers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Reduced human exposure to hazardous inspection environments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Job upskilling: inspectors become AI operators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Improved public confidence in air travel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8344"/>
            <a:ext cx="5577840" cy="219456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4886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527936"/>
            <a:ext cx="475488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1F3F"/>
                </a:solidFill>
                <a:latin typeface="Calibri"/>
              </a:defRPr>
            </a:pPr>
            <a:r>
              <a:rPr dirty="0">
                <a:solidFill>
                  <a:srgbClr val="00B050"/>
                </a:solidFill>
              </a:rPr>
              <a:t>INDUSTRY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34704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70% reduction in inspection time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60% cost reduction per facility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1500% throughput increase (6→96/day)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Standardized quality across all facilities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79239"/>
            <a:ext cx="5577840" cy="219456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957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574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ENVIRONMENTAL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2324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Reduced material waste from early detection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Lower energy consumption vs cloud AI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Extended aircraft lifecycle through maintenance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Minimized hazardous chemical usage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28398"/>
            <a:ext cx="5577840" cy="2194560"/>
          </a:xfrm>
          <a:prstGeom prst="round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9574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9574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9EEB"/>
                </a:solidFill>
                <a:latin typeface="Calibri"/>
              </a:defRPr>
            </a:pPr>
            <a:r>
              <a:t>REVENUE 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32324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SaaS licensing: $50K-100K/year per facility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Hardware + software bundle sales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Per-inspection usage fees</a:t>
            </a:r>
          </a:p>
          <a:p>
            <a:pPr algn="l"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Consulting &amp; customization services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600" y="6079292"/>
            <a:ext cx="10899647" cy="478819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96124" y="61009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001F3F"/>
                </a:solidFill>
                <a:latin typeface="Calibri"/>
              </a:defRPr>
            </a:pPr>
            <a:r>
              <a:rPr dirty="0"/>
              <a:t>🌐  Scalability: Deploy across multiple production lines → MRO facilities → Airports → Defense → Industrial manufacturing → Automotive — same AI, different domains.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73152" cy="50292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7FDBFF"/>
                </a:solidFill>
                <a:latin typeface="Calibri"/>
              </a:defRPr>
            </a:pPr>
            <a:r>
              <a:t>Summary of AeroVision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515600" cy="254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137160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AeroVision AI transforms aircraft surface inspection from a slow, error-prone manual process into a fast, accurate, and cost-effective AI-powered system. Using a custom YOLOv8 model with ResCBAM attention and GhostConv, deployed on edge devices, we achieve real-time multi-defect detection that sets a new benchmark for aerospace quality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200400"/>
            <a:ext cx="178308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3291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74D9"/>
                </a:solidFill>
                <a:latin typeface="Calibri"/>
              </a:defRPr>
            </a:pPr>
            <a:r>
              <a:t>79.2%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94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mAP@50</a:t>
            </a:r>
            <a:br/>
            <a:r>
              <a:t>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79" y="3200400"/>
            <a:ext cx="178308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40279" y="3291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74D9"/>
                </a:solidFill>
                <a:latin typeface="Calibri"/>
              </a:defRPr>
            </a:pPr>
            <a:r>
              <a:t>35ms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79" y="3794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Average</a:t>
            </a:r>
            <a:br/>
            <a:r>
              <a:t>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200400"/>
            <a:ext cx="178308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3291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74D9"/>
                </a:solidFill>
                <a:latin typeface="Calibri"/>
              </a:defRPr>
            </a:pPr>
            <a:r>
              <a:t>4.05M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94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Parameters</a:t>
            </a:r>
            <a:br/>
            <a:r>
              <a:t>(Lightweight)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3200400"/>
            <a:ext cx="178308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199" y="3291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74D9"/>
                </a:solidFill>
                <a:latin typeface="Calibri"/>
              </a:defRPr>
            </a:pPr>
            <a:r>
              <a:t>98%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3794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Cost</a:t>
            </a:r>
            <a:br/>
            <a:r>
              <a:t>Reduction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200400"/>
            <a:ext cx="178308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3291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74D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94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Defect</a:t>
            </a:r>
            <a:br/>
            <a:r>
              <a:t>Types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3200400"/>
            <a:ext cx="1783080" cy="146304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04120" y="32918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0074D9"/>
                </a:solidFill>
                <a:latin typeface="Calibri"/>
              </a:defRPr>
            </a:pPr>
            <a:r>
              <a:t>$486K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7947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0F4F8"/>
                </a:solidFill>
                <a:latin typeface="Calibri"/>
              </a:defRPr>
            </a:pPr>
            <a:r>
              <a:t>5-Year</a:t>
            </a:r>
            <a:br/>
            <a:r>
              <a:t>ROI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37760"/>
            <a:ext cx="11247120" cy="1554480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7FDBFF"/>
                </a:solidFill>
                <a:latin typeface="Calibri"/>
              </a:defRPr>
            </a:pPr>
            <a:r>
              <a:t>EXPECTED FUTURE OUTCOMES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Industry certification and commercial deployment within 12 months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Expansion to automotive &amp; industrial heavy machinery inspection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Autonomous drone-based inspection integration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F0F4F8"/>
                </a:solidFill>
                <a:latin typeface="Calibri"/>
              </a:defRPr>
            </a:pPr>
            <a:r>
              <a:t>●  SaaS platform serving 100+ aerospace facilities globally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200"/>
              </a:lnSpc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7FDBFF"/>
                </a:solidFill>
                <a:latin typeface="Calibri"/>
              </a:defRPr>
            </a:pPr>
            <a:r>
              <a:t>AeroVision AI — Redefining Aerospace Inspection with AI at the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200400"/>
            <a:ext cx="4846320" cy="3810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0" y="3598608"/>
            <a:ext cx="7132320" cy="2195048"/>
          </a:xfrm>
          <a:prstGeom prst="roundRect">
            <a:avLst/>
          </a:prstGeom>
          <a:solidFill>
            <a:srgbClr val="002B5C"/>
          </a:solidFill>
          <a:ln w="19050">
            <a:solidFill>
              <a:srgbClr val="007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3840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8699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0F4F8"/>
                </a:solidFill>
                <a:latin typeface="Calibri"/>
              </a:defRPr>
            </a:pPr>
            <a:r>
              <a:rPr dirty="0"/>
              <a:t>Team Lead: Mugesh Kumar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251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50280"/>
            <a:ext cx="54864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0F4F8"/>
                </a:solidFill>
                <a:latin typeface="Calibri"/>
              </a:defRPr>
            </a:pPr>
            <a:r>
              <a:rPr dirty="0"/>
              <a:t>Team: Karthikeyan </a:t>
            </a:r>
            <a:r>
              <a:rPr lang="en-US" dirty="0"/>
              <a:t>M</a:t>
            </a:r>
            <a:r>
              <a:rPr dirty="0"/>
              <a:t>  | </a:t>
            </a:r>
            <a:r>
              <a:rPr lang="en-US" dirty="0"/>
              <a:t>Sakthi </a:t>
            </a:r>
            <a:r>
              <a:rPr dirty="0"/>
              <a:t>S  | </a:t>
            </a:r>
            <a:r>
              <a:rPr lang="en-US" dirty="0" err="1"/>
              <a:t>VasanthaRaj</a:t>
            </a:r>
            <a:r>
              <a:rPr lang="en-US" dirty="0"/>
              <a:t> M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200400" y="477995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789783"/>
            <a:ext cx="54864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0F4F8"/>
                </a:solidFill>
                <a:latin typeface="Calibri"/>
              </a:defRPr>
            </a:pPr>
            <a:r>
              <a:rPr dirty="0"/>
              <a:t>Email: </a:t>
            </a:r>
            <a:r>
              <a:rPr lang="en-US" dirty="0"/>
              <a:t>727283tuad101@skct.edu.in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200400" y="51816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2110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F0F4F8"/>
                </a:solidFill>
                <a:latin typeface="Calibri"/>
              </a:defRPr>
            </a:pPr>
            <a:r>
              <a:rPr dirty="0"/>
              <a:t>GitHub: github.com/MUGESH-KUMAR-M/</a:t>
            </a:r>
            <a:r>
              <a:rPr dirty="0" err="1"/>
              <a:t>AeroVision</a:t>
            </a:r>
            <a:r>
              <a:rPr dirty="0"/>
              <a:t>-AI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61264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4D9"/>
                </a:solidFill>
                <a:latin typeface="Calibri"/>
              </a:defRPr>
            </a:pPr>
            <a:r>
              <a:rPr dirty="0"/>
              <a:t>Tata Technologies </a:t>
            </a:r>
            <a:r>
              <a:rPr dirty="0" err="1"/>
              <a:t>InnoVent</a:t>
            </a:r>
            <a:r>
              <a:rPr dirty="0"/>
              <a:t> 2026  •  Aerospace &amp; Aviation  •  AI-at-the-Edge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7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2409</Words>
  <Application>Microsoft Office PowerPoint</Application>
  <PresentationFormat>Widescreen</PresentationFormat>
  <Paragraphs>440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MUGESH KUMAR M</cp:lastModifiedBy>
  <cp:revision>2</cp:revision>
  <dcterms:created xsi:type="dcterms:W3CDTF">2013-01-27T09:14:16Z</dcterms:created>
  <dcterms:modified xsi:type="dcterms:W3CDTF">2026-06-16T13:10:47Z</dcterms:modified>
  <cp:category/>
</cp:coreProperties>
</file>